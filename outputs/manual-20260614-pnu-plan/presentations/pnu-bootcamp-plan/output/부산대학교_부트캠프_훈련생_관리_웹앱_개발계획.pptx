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893f51b54b48bb" /><Relationship Type="http://schemas.openxmlformats.org/officeDocument/2006/relationships/extended-properties" Target="/docProps/app.xml" Id="R9823a64f223e4d83" /><Relationship Type="http://schemas.openxmlformats.org/officeDocument/2006/relationships/officeDocument" Target="/ppt/presentation.xml" Id="Rcf18f9f4ab3140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c7f5542ed94f71"/>
  </p:sldMasterIdLst>
  <p:notesMasterIdLst>
    <p:notesMasterId xmlns:r="http://schemas.openxmlformats.org/officeDocument/2006/relationships" r:id="R9457420a91b94740"/>
  </p:notesMasterIdLst>
  <p:sldIdLst>
    <p:sldId xmlns:r="http://schemas.openxmlformats.org/officeDocument/2006/relationships" id="256" r:id="R2f6ca5e67f094b53"/>
    <p:sldId xmlns:r="http://schemas.openxmlformats.org/officeDocument/2006/relationships" id="257" r:id="R5763ed6a0cf947b0"/>
    <p:sldId xmlns:r="http://schemas.openxmlformats.org/officeDocument/2006/relationships" id="258" r:id="R95e17b4f960a4f8b"/>
    <p:sldId xmlns:r="http://schemas.openxmlformats.org/officeDocument/2006/relationships" id="259" r:id="R4282e9048f38467c"/>
    <p:sldId xmlns:r="http://schemas.openxmlformats.org/officeDocument/2006/relationships" id="260" r:id="Ref4bc0e9f2cb4967"/>
    <p:sldId xmlns:r="http://schemas.openxmlformats.org/officeDocument/2006/relationships" id="261" r:id="R9fb28249639f4bf4"/>
    <p:sldId xmlns:r="http://schemas.openxmlformats.org/officeDocument/2006/relationships" id="262" r:id="Reb66ad0349cf46a7"/>
    <p:sldId xmlns:r="http://schemas.openxmlformats.org/officeDocument/2006/relationships" id="263" r:id="R787409ae98504427"/>
    <p:sldId xmlns:r="http://schemas.openxmlformats.org/officeDocument/2006/relationships" id="264" r:id="R6ae8a52ff9844ee7"/>
    <p:sldId xmlns:r="http://schemas.openxmlformats.org/officeDocument/2006/relationships" id="265" r:id="R5da8ded3d06844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488c8bdd004246" /><Relationship Type="http://schemas.openxmlformats.org/officeDocument/2006/relationships/slideMaster" Target="/ppt/slideMasters/slideMaster1.xml" Id="R05c7f5542ed94f71" /><Relationship Type="http://schemas.openxmlformats.org/officeDocument/2006/relationships/notesMaster" Target="/ppt/notesMasters/notesMaster1.xml" Id="R9457420a91b94740" /><Relationship Type="http://schemas.openxmlformats.org/officeDocument/2006/relationships/presProps" Target="/ppt/presProps.xml" Id="Re09e92da84f84565" /><Relationship Type="http://schemas.openxmlformats.org/officeDocument/2006/relationships/viewProps" Target="/ppt/viewProps.xml" Id="Raf72e5c788b748f7" /><Relationship Type="http://schemas.openxmlformats.org/officeDocument/2006/relationships/tableStyles" Target="/ppt/tableStyles.xml" Id="R4f5fe02874504566" /><Relationship Type="http://schemas.openxmlformats.org/officeDocument/2006/relationships/slide" Target="/ppt/slides/slide1.xml" Id="R2f6ca5e67f094b53" /><Relationship Type="http://schemas.openxmlformats.org/officeDocument/2006/relationships/slide" Target="/ppt/slides/slide2.xml" Id="R5763ed6a0cf947b0" /><Relationship Type="http://schemas.openxmlformats.org/officeDocument/2006/relationships/slide" Target="/ppt/slides/slide3.xml" Id="R95e17b4f960a4f8b" /><Relationship Type="http://schemas.openxmlformats.org/officeDocument/2006/relationships/slide" Target="/ppt/slides/slide4.xml" Id="R4282e9048f38467c" /><Relationship Type="http://schemas.openxmlformats.org/officeDocument/2006/relationships/slide" Target="/ppt/slides/slide5.xml" Id="Ref4bc0e9f2cb4967" /><Relationship Type="http://schemas.openxmlformats.org/officeDocument/2006/relationships/slide" Target="/ppt/slides/slide6.xml" Id="R9fb28249639f4bf4" /><Relationship Type="http://schemas.openxmlformats.org/officeDocument/2006/relationships/slide" Target="/ppt/slides/slide7.xml" Id="Reb66ad0349cf46a7" /><Relationship Type="http://schemas.openxmlformats.org/officeDocument/2006/relationships/slide" Target="/ppt/slides/slide8.xml" Id="R787409ae98504427" /><Relationship Type="http://schemas.openxmlformats.org/officeDocument/2006/relationships/slide" Target="/ppt/slides/slide9.xml" Id="R6ae8a52ff9844ee7" /><Relationship Type="http://schemas.openxmlformats.org/officeDocument/2006/relationships/slide" Target="/ppt/slides/slide10.xml" Id="R5da8ded3d06844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8bce75c63342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aeb35e8d0d4501" /><Relationship Type="http://schemas.openxmlformats.org/officeDocument/2006/relationships/notesMaster" Target="/ppt/notesMasters/notesMaster1.xml" Id="R53eaea8324414f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773684c46f47f2" /><Relationship Type="http://schemas.openxmlformats.org/officeDocument/2006/relationships/notesMaster" Target="/ppt/notesMasters/notesMaster1.xml" Id="Rc555bf9b88704d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007ed16c614155" /><Relationship Type="http://schemas.openxmlformats.org/officeDocument/2006/relationships/notesMaster" Target="/ppt/notesMasters/notesMaster1.xml" Id="Rb425e445fe9d4f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496390fc5e4a06" /><Relationship Type="http://schemas.openxmlformats.org/officeDocument/2006/relationships/notesMaster" Target="/ppt/notesMasters/notesMaster1.xml" Id="R96e1682ee96b43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34d8d9426c41f9" /><Relationship Type="http://schemas.openxmlformats.org/officeDocument/2006/relationships/notesMaster" Target="/ppt/notesMasters/notesMaster1.xml" Id="R5fe6734a0c304e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d09b8be1d048cd" /><Relationship Type="http://schemas.openxmlformats.org/officeDocument/2006/relationships/notesMaster" Target="/ppt/notesMasters/notesMaster1.xml" Id="R420c1e96f7144e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607b725b834811" /><Relationship Type="http://schemas.openxmlformats.org/officeDocument/2006/relationships/notesMaster" Target="/ppt/notesMasters/notesMaster1.xml" Id="R9e8c5766a312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d6d0de64ef41f3" /><Relationship Type="http://schemas.openxmlformats.org/officeDocument/2006/relationships/notesMaster" Target="/ppt/notesMasters/notesMaster1.xml" Id="R4917ece1211347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1238ee7885469e" /><Relationship Type="http://schemas.openxmlformats.org/officeDocument/2006/relationships/notesMaster" Target="/ppt/notesMasters/notesMaster1.xml" Id="Rc0e58bc4599948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b76b089ef94206" /><Relationship Type="http://schemas.openxmlformats.org/officeDocument/2006/relationships/notesMaster" Target="/ppt/notesMasters/notesMaster1.xml" Id="R0e298a3594544a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b00a1906649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fed8ed5f2f4141" /><Relationship Type="http://schemas.openxmlformats.org/officeDocument/2006/relationships/slideLayout" Target="/ppt/slideLayouts/slideLayout1.xml" Id="R40dd33bd194446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dd33bd194446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7606e1313497a" /><Relationship Type="http://schemas.openxmlformats.org/officeDocument/2006/relationships/notesSlide" Target="/ppt/notesSlides/notesSlide1.xml" Id="Ra5b65ca580d843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d03c71c394243" /><Relationship Type="http://schemas.openxmlformats.org/officeDocument/2006/relationships/notesSlide" Target="/ppt/notesSlides/notesSlide2.xml" Id="R7ffc87b111c14d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ccfd6bb634445" /><Relationship Type="http://schemas.openxmlformats.org/officeDocument/2006/relationships/notesSlide" Target="/ppt/notesSlides/notesSlide3.xml" Id="R3329c0ba43c54b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9196504b24c32" /><Relationship Type="http://schemas.openxmlformats.org/officeDocument/2006/relationships/notesSlide" Target="/ppt/notesSlides/notesSlide4.xml" Id="Rd28a1c622e7347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89f127ed84de9" /><Relationship Type="http://schemas.openxmlformats.org/officeDocument/2006/relationships/notesSlide" Target="/ppt/notesSlides/notesSlide5.xml" Id="R58fd6716a75c41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87e755afc4f23" /><Relationship Type="http://schemas.openxmlformats.org/officeDocument/2006/relationships/image" Target="/ppt/media/image.jpeg" Id="Rfa4062d61bed4ade" /><Relationship Type="http://schemas.openxmlformats.org/officeDocument/2006/relationships/notesSlide" Target="/ppt/notesSlides/notesSlide6.xml" Id="Rc1505a941ee541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074eb93284ca9" /><Relationship Type="http://schemas.openxmlformats.org/officeDocument/2006/relationships/notesSlide" Target="/ppt/notesSlides/notesSlide7.xml" Id="R6b30992e12d64b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ca3e21e1d4edd" /><Relationship Type="http://schemas.openxmlformats.org/officeDocument/2006/relationships/notesSlide" Target="/ppt/notesSlides/notesSlide8.xml" Id="R410f656043cb44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537d556974ef4" /><Relationship Type="http://schemas.openxmlformats.org/officeDocument/2006/relationships/notesSlide" Target="/ppt/notesSlides/notesSlide9.xml" Id="Re2164b7620814d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fdb08310f4649" /><Relationship Type="http://schemas.openxmlformats.org/officeDocument/2006/relationships/notesSlide" Target="/ppt/notesSlides/notesSlide10.xml" Id="R22bf154f531340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61788-D8B8-48FE-871D-7112152F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5C230-AB4B-4651-9A88-44B4AFEC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62DCF-1E3F-46F6-8B1F-2F6813D2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부산대학교 부트캠프 훈련생 관리 웹앱 개발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33CBF-2896-411F-A425-F491A718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22EC6-6A2D-429D-A5B4-22E59EED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068EB-1F14-45E8-A7D8-3BCEED5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024DE-97EC-4494-A8B4-CB1FB1D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52431-BD24-44F8-A7A8-2060D50E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PNU BOOTCAMP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CE2D8-60C6-47B0-A320-80B52DDA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7239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부산대학교 부트캠프</a:t>
            </a:r>
          </a:p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훈련생 관리 웹앱 개발 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9CAA4-5963-4CEC-9B39-8561BD7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714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학생 이수·상담·추천 데이터를 하나의 운영 화면으로 연결해 교수자의 상담 판단과 교육과정 안내를 지원합니다.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593BD-2721-4B43-9956-6EE39E5C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3A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47EE5-E751-4D18-99C6-C9FC5027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100명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4EA04-22A4-4203-9D9D-7A8E45B5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샘플 학생 데이터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DF884-CEF8-48B2-BA23-D81EF6B5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7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06069-EA06-4035-9F50-C735A600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481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rPr>
              <a:t>7개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A8010-A1BF-463F-849A-BEE09741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291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트랙 기반 관리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79B7D-B041-4CB9-947A-E5723C20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95750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2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02909-07D5-49B6-9D6C-2F4548A5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481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26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8266E"/>
                </a:solidFill>
                <a:latin typeface="Malgun Gothic"/>
                <a:ea typeface="Malgun Gothic"/>
                <a:cs typeface="Malgun Gothic"/>
              </a:rPr>
              <a:t>연도·학기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2F9EE-8219-4002-8F4C-EBD8BB36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291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이수 이력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66B40-E183-4EF1-9B86-36FD6271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838200"/>
            <a:ext cx="2857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8F710-9F4D-4B84-B2B2-3D58A075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62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관리자 첫 화면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6FC1E6-A9D9-447B-84AF-08F0D0F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관리 학생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4AD49-669B-4C9F-A4FD-40D8E338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81927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24CC0-2908-4FA1-B08D-06A41E74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81927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B4AAAE-DF8A-4FEF-9D33-82026DBA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174307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100%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421BE-DFAC-4E31-B9AB-08F93780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평균 이수율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39E33C-B906-4370-AA65-A1DD5D85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1457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E91FC9-E67E-4AB7-8141-36EB437B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14575"/>
            <a:ext cx="126301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78940A-3765-454B-8FB6-990EF376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23837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78%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8853DC-4C5D-4971-B325-752AE22C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상담 우선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6750B7-A0AF-43FF-847E-CC5E5881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80987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2DAA61-3B1D-48DE-866A-71F3A81B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809875"/>
            <a:ext cx="4048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925E6A-DB0A-4D9E-ABA3-6C24FC78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73367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25%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B00D57-8147-4A1C-A600-96FB5A67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PBL 추천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6A8644-40F4-4090-BF37-D533EDD1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30517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5D8C1D-3B6F-44F9-8343-B1261BC4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305175"/>
            <a:ext cx="142494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A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CC8AB1-0747-4AD1-84B8-18406B9B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22897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88%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891E41-7FBC-49C7-A519-7E2184AB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핵심 현황을 먼저 보여주고, 클릭하면 학생별 근거가 펼쳐지는 구조</a:t>
            </a:r>
          </a:p>
        </p:txBody>
      </p:sp>
    </p:spTree>
    <p:extLst>
      <p:ext uri="{BB962C8B-B14F-4D97-AF65-F5344CB8AC3E}">
        <p14:creationId xmlns:p14="http://schemas.microsoft.com/office/powerpoint/2010/main" val="2646499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F9DECA-18E1-498A-BC15-CAE1B176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B1A2C-9065-4BE4-84AF-DB96932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DF477-75D5-4EB5-AE78-2073CF16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부산대학교 부트캠프 훈련생 관리 웹앱 개발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6BA44-A3F0-4797-9799-989F09F7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0BEEC-B66C-4921-8008-580010B3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WHY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00F35-15C4-455D-BC22-95C2A965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F601B-EC25-4AF1-8181-1A63BA15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문제는 데이터 부족이 아니라 상담 가능한 연결 구조의 부재입니다.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28379-6C63-451F-BFE7-0CFA7269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E991A-A5CC-4FF4-B283-A0B4AFE6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3D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E43D4F"/>
                </a:solidFill>
                <a:latin typeface="Malgun Gothic"/>
                <a:ea typeface="Malgun Gothic"/>
                <a:cs typeface="Malgun Gothic"/>
              </a:rPr>
              <a:t>현재 운영상의 불편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DA8AC-36B2-4119-9143-33AEAAC6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86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40FB9-36DA-4132-ACBA-4B22B8FE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학생별 이수 교과목과 미이수 교과목이 분리되어 확인됨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A1C88-9F45-4B5C-9B05-15814B09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24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27035-861D-494C-9935-842FE981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트랙별 현황과 상담 우선순위가 같은 화면에서 연결되지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27B40-6637-4E9F-829C-86FE4F29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62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A737A-CBB6-4645-BD02-639CF876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교수자가 추천 근거를 상담 전에 다시 정리해야 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C1D0E-BA1F-4D1C-A1E6-3BF4C08A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0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6174D-2DFB-48CF-9623-69359D7F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연도·학기별 이수 흐름을 추적하기 어려움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0B221-C4BD-4CBF-B993-9EA285F9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EC9DD-9A45-4A69-B354-E5F589B9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rPr>
              <a:t>목표 운영 방식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7C079-E2A0-4C6F-98FF-B5CD0634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86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0FE6E4-211C-40A5-9861-F11243CD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이수, 상담, 추천 정보를 학생 단위로 통합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B0E43-0D7A-4958-A5A0-8C316BE9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24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29A2D-195D-474C-BC91-12D9F893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대시보드에서 전체 현황과 위험 신호를 즉시 파악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3DA87-0F95-46E9-9310-57CD95B2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62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CFDF75-89F6-45DB-99F8-6AEFDB90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트랙·과정 클릭 시 관련 학생과 교과목 근거 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085DF2-C4CE-40E9-BFA7-3760A943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0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05A2FD-14DF-48A9-8B46-9104F923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338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상담 기록과 음성 요약을 학생 이력으로 축적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8A178-22DB-4323-9FAD-135F33CC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5280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F2E504-3701-40B3-B338-64C041D9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99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통합</a:t>
            </a:r>
          </a:p>
        </p:txBody>
      </p:sp>
    </p:spTree>
    <p:extLst>
      <p:ext uri="{BB962C8B-B14F-4D97-AF65-F5344CB8AC3E}">
        <p14:creationId xmlns:p14="http://schemas.microsoft.com/office/powerpoint/2010/main" val="15881690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57413E-06C6-4C06-B875-A65FC112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9AFDC-830B-4836-B936-D93DD21D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C592B-010C-4449-B3A7-D7EC3526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부산대학교 부트캠프 훈련생 관리 웹앱 개발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D3597-D68D-4AEB-A7A9-7B56E846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B7EDC-D5AB-4D62-B7FB-158F17D2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DEVELOPMENT GOALS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8D57E-55AB-414D-8EB9-41C4B3D3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3E84B-0632-4B1E-99AB-F170F73B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웹앱의 목표는 ‘관리’에서 끝나지 않고 ‘상담 가능한 추천’까지 이어지는 것입니다.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39FEF-2996-4C88-B22C-BE566C30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90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3A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3E014-C23B-41D8-A683-99A273A0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6E673-309C-416B-A6C4-84A89C99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669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이수 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3C93B-2D84-45AB-B668-555F93CD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교과형·몰입형 과정을 모듈 단위로 기록하고 연도·학기별로 추적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0BE86-B24C-4C83-9869-0E4D78C1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190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7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C35C1-0257-4054-A375-3EACDB4C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DD351-8895-45EB-8FCC-40FEC740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669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현황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CA3C5-F1C4-4147-AB69-D4FC125A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289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관리 학생, 평균 이수율, 상담 우선, PBL 추천 가능 규모를 즉시 파악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4C8A2-19FE-4AAE-8B3D-C2FD9D67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190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2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6E26D-48BF-47BD-9EBA-761B5AEA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26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D826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7D91E-F101-48D9-AAB7-860D395B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669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과정 추천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82FFA-66B7-4056-B330-78DC8679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289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전공·학년·관심 분야·이수 과목 기반으로 다음 트랙과 PBL 추천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6736B-AA44-4752-94C0-87413FB5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5048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A4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0380C1-A7BE-4155-B75C-98424B7A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A4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DA44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C461B-3B24-41CF-BBE9-13FB9785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상담 지원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7A4D8-0296-4112-9EC2-65D635EF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학생 클릭 시 추천 이유와 미이수 과목을 상담 근거로 제공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DC1CEB-7BBC-4F8A-964B-BB0EA19D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90950"/>
            <a:ext cx="5048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D0B82-8ADD-4331-9501-EA548186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814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4A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6B4AA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9BD56-3D39-4DD7-8246-94FA62B4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9624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운영 개선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D99F2-8403-47CF-8414-F70B0F95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3243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트랙별 편중과 낮은 이수율을 확인해 교육과정 운영에 반영</a:t>
            </a:r>
          </a:p>
        </p:txBody>
      </p:sp>
    </p:spTree>
    <p:extLst>
      <p:ext uri="{BB962C8B-B14F-4D97-AF65-F5344CB8AC3E}">
        <p14:creationId xmlns:p14="http://schemas.microsoft.com/office/powerpoint/2010/main" val="19415580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0FAE17-A4AE-443E-A6B5-4CA4EE42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65AA0-3B57-46E3-B7AE-BDDA09AE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65B96-2CA2-4798-912E-C35E0B9F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부산대학교 부트캠프 훈련생 관리 웹앱 개발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ECD4A-D948-472D-950B-EFB5ABC9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AC730-2A2C-4CD7-BEF3-E0713D72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DATA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35EBF-DCB5-44D6-9CE2-5080749C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AF0D8-B6CD-4E39-BD19-0A130067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학생, 모듈, 이수, 상담, 추천 근거를 하나의 데이터 구조로 묶습니다.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49081-E656-47C5-AC65-0F75A933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3238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FC393-918A-485D-8497-5D4F11F7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학생 프로필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29B08-51DD-4D18-9B68-3531D01C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38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전공 · 학년 · 관심분야 · 목표트랙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9537E-A9EB-4766-8408-9021E5C0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7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3738F-92C9-4797-B75B-2DCB886A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rPr>
              <a:t>교육과정 모듈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FA5D3-5C2C-47AB-ACC0-D5DFD22F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교과형 / 몰입형</a:t>
            </a:r>
          </a:p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초급·중급·고급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D02CA-2AED-4CDF-BCAE-0857CB7D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2887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52D9B-C797-4492-A113-D9234C69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A4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9A268-CCCA-48D1-A4EC-C8FFF3D0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DA44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DA44E"/>
                </a:solidFill>
                <a:latin typeface="Malgun Gothic"/>
                <a:ea typeface="Malgun Gothic"/>
                <a:cs typeface="Malgun Gothic"/>
              </a:rPr>
              <a:t>이수 이력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96A6A-5A30-4B5B-8B93-8E4746A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연도·학기별</a:t>
            </a:r>
          </a:p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완료 모듈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9E8BA-3876-431B-B08E-B716C3C6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434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D0850-5109-47C1-A8D8-102297F5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2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F7A7C-F992-4976-857F-38201403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2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D8266E"/>
                </a:solidFill>
                <a:latin typeface="Malgun Gothic"/>
                <a:ea typeface="Malgun Gothic"/>
                <a:cs typeface="Malgun Gothic"/>
              </a:rPr>
              <a:t>상담 기록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CC5E6-2CDA-4802-A065-A708D629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메모·일정</a:t>
            </a:r>
          </a:p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음성 요약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7A087-4168-4EEB-BE2F-D4B6500A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9C16F-3E0C-44DE-837A-7F6591C5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1393D-4E5F-44E4-B608-21C562EC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0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4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B4AA0"/>
                </a:solidFill>
                <a:latin typeface="Malgun Gothic"/>
                <a:ea typeface="Malgun Gothic"/>
                <a:cs typeface="Malgun Gothic"/>
              </a:rPr>
              <a:t>추천 근거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7044F8-0842-4589-BBF6-8BE41EFF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학년·전공·미이수</a:t>
            </a:r>
          </a:p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PBL 적합도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DF02A7-DB98-4A95-9919-68CC5302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434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A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C1340C-0CFA-4768-B767-55723307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57800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운영자는 집계 화면을 보고, 교수자는 같은 데이터를 학생 상담 근거로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2397699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5B7A09-1FE7-4FD4-A25C-B32801C0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839E4-F90A-48FA-A2ED-5D6E8E3C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7EB5D-1012-468B-BD33-1935B784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부산대학교 부트캠프 훈련생 관리 웹앱 개발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0D313-5839-4F3B-B37E-5B8546AF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F9F9B-2167-44E6-B245-1D42BA61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DF3E8-5CF7-4783-A886-3E120DB4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E96A7-7ECE-4107-A987-46D6866E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첫 화면은 전체 현황을 빠르게 읽고 바로 학생 근거로 내려가는 구조입니다.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6E34B-A0A2-496A-B108-F2DA961F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428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3A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3CAD8-BCF0-41B4-BA15-E55C4DA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관리 학생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D1F71-EB13-46A8-8C38-BEC81935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100명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F063D-DC23-4520-9BC4-A209C660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전체 연도·학기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F69D0-AEFF-4E0F-9989-B5790D0A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57400"/>
            <a:ext cx="2428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7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0BE93-D408-4F88-92E2-D1BAE643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평균 이수율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C9F53-1E12-433E-A0FF-CF14DAFA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57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78%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999C3-FC33-411A-ABFF-724FEAA5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38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진행률 종합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D7115-D7FB-444F-8ED6-DD22A4C3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2428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3D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50FC8-80B6-4683-99F7-79C1D8BC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상담 우선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77D75-905F-49DB-BC17-9AEBD590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25명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31E24-806D-4C28-BD45-519E23A4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위험도 높음·관찰 필요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6FDEB-E253-4225-AF33-C56C0FEC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428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8337A-BEFC-4600-8C5C-212CD667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9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PBL 추천 가능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A92C8-C3AF-430E-BA26-56E0131C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88명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2B9027-4A79-40F4-BD1A-D7ADD2A2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38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몰입형 연계 후보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3DEBC-289E-4E58-9970-EC8F3E1A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4953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3BDD6D-11F0-4DAE-B345-70D8B7FF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트랙별 목표 학생 현황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6BE908-6F80-46C8-970F-CFCC40DA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클라우드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1B7AA7-0BA2-4DE9-AC4E-5AD68A6D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2437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00DDA0-5679-4378-9693-F95EFBDE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24375"/>
            <a:ext cx="220408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ADF399-8EBC-43F4-9C64-6EF856FB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4817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89%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6DBBFB-EC81-4907-94C7-69BEC2F7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산업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F5B2C3-70D5-4E01-9FF2-258806F5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244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AAC6C6-F156-419F-82C4-6782D7A3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24425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44AA19-6146-4F6E-8476-47755842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4822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60%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BE709E-9A1D-471C-8DB8-C4BF6471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융합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1B7313-6A31-44FE-837F-98479D39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32447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451434-186D-47D2-9EB2-EAD14221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324475"/>
            <a:ext cx="71818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A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3AC7A9-D665-45B5-BBAF-4EAC4253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4827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29%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1B552F-8318-4B12-95AB-FA81D5D0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762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784316-B08D-4908-AF22-B76AD96D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상담 우선순위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5BA7E6-C299-4F99-91F4-81F8D9DD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3D4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75CA16-77FB-4917-B1A7-7871A2F7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C052CA-8D88-43A0-81C0-41CD2AB7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24375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높음 위험도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3BA110-FF40-4ED1-8542-911D2F4D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3A7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B00A32-BA60-429D-AFBE-88602148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5ABA27-FFED-4E15-9515-CC7B8539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243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관찰 필요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3DF5BA-2CF3-4A83-8F99-B9F95758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행 클릭 → 학생 상세·추천 근거·상담 카드로 연결</a:t>
            </a:r>
          </a:p>
        </p:txBody>
      </p:sp>
    </p:spTree>
    <p:extLst>
      <p:ext uri="{BB962C8B-B14F-4D97-AF65-F5344CB8AC3E}">
        <p14:creationId xmlns:p14="http://schemas.microsoft.com/office/powerpoint/2010/main" val="20220400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AACD4-1CDA-43B0-AD20-C6994166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59F2D-885F-49A0-ABD5-2F999D40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9166B-6F66-4217-AD79-C85E91AE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부산대학교 부트캠프 훈련생 관리 웹앱 개발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D550D-0E2F-440A-AB9D-BFF48825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A7B8E-7CAC-42FD-AB43-8E06131F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CURRICULUM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7492F-C48D-4A4C-9C75-E825F299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FF25B-DA55-4FC0-9F89-2F94C3C6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중급·고급 과정 안에서 교과형과 몰입형을 분리해 관리합니다.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FBF1E-A743-4498-B1EF-49FC2F66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857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062d61bed4ade"/>
          <a:stretch xmlns:a="http://schemas.openxmlformats.org/drawingml/2006/main"/>
        </p:blipFill>
        <p:spPr>
          <a:xfrm xmlns:a="http://schemas.openxmlformats.org/drawingml/2006/main">
            <a:off x="838200" y="2503704"/>
            <a:ext cx="4514850" cy="221254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546B4-2DBD-4CFE-BD83-3936AA80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7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B7CCE-5B87-4A91-ABBF-C2B481CC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rPr>
              <a:t>중급과정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C36D5-A471-42BE-9724-F79C960C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코어AI트랙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E89B6-3741-44CD-89B0-7CE43A48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클라우드·피지컬AI</a:t>
            </a:r>
          </a:p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생성형AI</a:t>
            </a:r>
          </a:p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XR공간컴퓨팅</a:t>
            </a:r>
          </a:p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AI융합보안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C2EFB-3A4F-4783-A0D4-63BBE019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2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B6EDF-2613-43B3-910B-6BE5EAF6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26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D8266E"/>
                </a:solidFill>
                <a:latin typeface="Malgun Gothic"/>
                <a:ea typeface="Malgun Gothic"/>
                <a:cs typeface="Malgun Gothic"/>
              </a:rPr>
              <a:t>융합AI 몰입형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22801-3EC3-4045-A6EA-B624916D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47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교과형 중급은 없음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BAF36-F633-4F0F-94D9-8E66F565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딥러닝 PBL</a:t>
            </a:r>
          </a:p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데이터분석 PBL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25C51-BABA-4F63-958E-9DE3989A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71900"/>
            <a:ext cx="5143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3A7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A3AAB-1D03-4782-B87D-843DBF1F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고급과정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1B18B-A400-4951-8168-CC58D17B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386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교과형과 몰입형을 각각 클릭하면 이수 현황과 이수중 학생 목록을 팝업으로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5B044-C8CA-4D0C-A96D-366845FB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3395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몰입형: 클라우드 AI PBL, 온디바이스 AI PBL, 로보틱스 AI PBL, 생성형 AI PBL, XR PBL, AI융합보안 PBL, 산업AI PBL</a:t>
            </a:r>
          </a:p>
        </p:txBody>
      </p:sp>
    </p:spTree>
    <p:extLst>
      <p:ext uri="{BB962C8B-B14F-4D97-AF65-F5344CB8AC3E}">
        <p14:creationId xmlns:p14="http://schemas.microsoft.com/office/powerpoint/2010/main" val="16699766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2BDB2F-AC81-4A94-9577-CA41598F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36A2D-04C1-41E1-9AD5-914D05A8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55E8C-80BE-4D1D-899D-C962549A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부산대학교 부트캠프 훈련생 관리 웹앱 개발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EB785-485D-4AE0-9772-B3C64398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B1C4C-93A5-4756-BB0C-A59ACD86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COUNSELING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21778-4A04-4AD2-8F90-D7A65A0F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7AD7D-3CD8-4747-9E6E-6C201251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교수자가 상담 전에 확인해야 하는 정보를 학생 한 명의 흐름으로 정리합니다.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0DBD7-49F6-4E08-A087-BF6926C7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676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3A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2C56D-184B-44BD-960F-7F8F64D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1B011-C6E7-4B48-BC88-D8DD4421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학생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34EE8-5048-4209-BB61-7D0E3B66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목록에서 이름 클릭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14A4D-01E7-42AE-A90A-2F7B8529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766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79A73-779F-4AC7-9E52-3559D2FC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1676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7A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832A3-0958-4CCF-B653-90EF3E6D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CF77C-C114-465B-9C51-BE179692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이수 현황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839E7-0BFE-4D66-9412-F6F8CB2B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완료·필요 교과목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25F33-B339-48D5-8DBE-CA450CDC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766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E5286-A290-46FC-AF0F-F82439F4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1676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2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9C7F3-9975-4B5E-B0B3-86AC32EE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266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D8266E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161ED-292F-4727-AECD-E3FC6357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242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추천 근거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3037E-4C62-406F-A62A-907C723A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62350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추천 트랙과 이유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11620-140E-4864-98C1-24F62CD6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766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1C9E2-38F2-4972-B34F-41F5298B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43150"/>
            <a:ext cx="1676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A44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9FF47-B8B6-4D8B-8FE3-4B475470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DA4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DA44E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7319E5-4989-46BC-B64F-B4CC2141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상담 기록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69068-DCFE-41AC-816D-39DF09A2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2350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메모·음성파일 요약 저장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B0D28-222B-4D24-98B5-7CFDD120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766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A50574-4CC3-4EB1-AEC3-37AF8D3B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43150"/>
            <a:ext cx="1676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0621D7-87DA-4A6C-942D-146240D3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B4AA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B4AA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D76B4-EA65-4FA1-BB7E-F67C443C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다음 안내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CFC47-BA24-4B88-B554-CE7743D5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62350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다음 학기·PBL 과정 제안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580397-2060-4FA8-A2AA-72E66EB4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10150"/>
            <a:ext cx="771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사용자는 화면 이동 없이 목록 → 상세 → 추천 → 상담 기록으로 이어집니다.</a:t>
            </a:r>
          </a:p>
        </p:txBody>
      </p:sp>
    </p:spTree>
    <p:extLst>
      <p:ext uri="{BB962C8B-B14F-4D97-AF65-F5344CB8AC3E}">
        <p14:creationId xmlns:p14="http://schemas.microsoft.com/office/powerpoint/2010/main" val="11279351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29AC6-55BC-4595-977C-19FDBDBF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F6C9F-5930-4D5C-BE20-7E0CA5A7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47602-F581-49C4-9B1F-735AEA31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부산대학교 부트캠프 훈련생 관리 웹앱 개발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6FFA4-04EB-4E3D-A988-99BEB44B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C8174-7CAC-45BE-A32D-2E96B1B9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RECOMMENDATION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FA790-9617-465F-A44F-BEBD46A1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0A1C6-4F64-4073-83BE-2A9798DC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추천은 트랙명을 보여주는 데서 끝나지 않고 상담 가능한 이유를 함께 제공합니다.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584E8-1B7C-4B78-96E8-63AB2880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953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CDEAE-0A38-4952-833B-3DF8F359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추천 판단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7B829-E417-40CB-8E1D-436760AC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3A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71BCF-34FA-489B-A41D-7E00B0C1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20FC2-A521-49B2-AB6F-BAB7A27F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622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학년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0636B-6A5B-4583-A1FE-37232ACB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432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고급·PBL 진입 가능성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05E95-C833-4795-A620-69DD2003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7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9629B-0D6F-40AA-A653-3B1661D9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BDDBC-71AC-4894-AFFC-AAE1FFDC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6232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전공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7705B-DD53-4B2D-8778-EF758216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432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트랙 적합도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63547-6838-4E81-A728-ED737D94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2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6ADA3-AB35-47B8-9449-89C586BF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445CE-FA41-49F2-A5B2-7B4A0BAE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623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이수 교과목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EE320-3617-4101-AA27-D1810764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433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선수 모듈 충족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AEED61-30DF-4B10-842D-CFA74620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A4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AAFFC-D808-445A-8C4A-06D6CB17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C8DA33-E9E2-4B5B-9FD1-0E5771E7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미이수 교과목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C124B-0F00-4CF5-83C6-DA89C70C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433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다음 학기 안내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4BF767-04DB-470E-94FA-627185A3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B278CE-4AB2-4CB1-A076-6BBAE23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A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1073D2-5140-4D8A-B00F-70FFDB35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624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관심 분야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8BE58-3BB8-4D96-BBF9-D732D017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434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상담 대화 소재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E23B65-F684-4A3F-8B0E-D9D4BBD8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4762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F656BB-6E58-4DF9-BFF0-025ACDA8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교수자에게 제공되는 상담 정보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76A908-4A2E-4D6B-8FC9-2009A750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81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4C84F5-8776-4B87-B78C-72368B4A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추천 트랙명과 과정 단계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21687C-B807-4D46-A36B-2BEE09C2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8D1A6C-A3C2-460A-8922-5E1C7EBF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왜 이 학생에게 적합한지에 대한 문장형 근거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DB89AB-A712-43EC-8DDB-EF3DC124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950BB6-EE8F-442B-A068-FE23DDBE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이미 이수한 교과목과 아직 필요한 교과목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BB1531-80C2-40BA-B08E-D86BE243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A91A5D-0F05-42AA-BEB8-668D27F5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PBL 추천 가능 여부와 연결 가능한 PBL 과목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CAE330-BFEC-4482-A33B-E685FFC1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8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C2BF3C-7714-406C-9FA4-3484A4C9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상담 시 확인해야 할 위험도와 후속 조치</a:t>
            </a:r>
          </a:p>
        </p:txBody>
      </p:sp>
    </p:spTree>
    <p:extLst>
      <p:ext uri="{BB962C8B-B14F-4D97-AF65-F5344CB8AC3E}">
        <p14:creationId xmlns:p14="http://schemas.microsoft.com/office/powerpoint/2010/main" val="21066641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A0185C-7CB6-4CD2-9FB4-3098C2AC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F1EA5-7EED-40A4-87DF-1C03B6BC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4D48D-2EAA-4B5E-8E19-E4B20989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부산대학교 부트캠프 훈련생 관리 웹앱 개발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F3FF0-272A-437F-B3D6-73D66CE5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A59D8-CA66-4C12-B40D-CF6BDD9F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USABILITY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2E42F-C2E2-427F-94DB-2A03BF35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525B0-51B0-42F0-856A-09D7A5AD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관리자는 많은 학생을 보지만, 화면은 필요한 만큼만 펼쳐져야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69A88-B2A8-45BF-A816-A1383D8E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200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D6559-EE15-4D1E-9A17-6D57A34C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한눈에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95E3C-B0A8-4528-8AA4-3CD0260D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4ED5E-C4CC-42A4-A17C-817F419E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09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첫 화면 KPI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CCFC3-67DE-4F12-98C3-056DC4A3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38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A5F98-0BE2-4694-9912-664A0A83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트랙별 진행률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85CF4-AD1B-4D49-BBFC-5A8187DA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00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2ACFA-C0E6-4959-80EF-27FD7771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상담 우선순위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AB6C3-43C1-4381-A079-1903DFBF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B1E0C-C688-47E1-A379-F865CC93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연도·학기 필터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7F7BD-C1A0-487F-AE36-2698D172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3200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90905-E4FA-4210-96A1-88A1B691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00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A7A0"/>
                </a:solidFill>
                <a:latin typeface="Malgun Gothic"/>
                <a:ea typeface="Malgun Gothic"/>
                <a:cs typeface="Malgun Gothic"/>
              </a:rPr>
              <a:t>필요할 때 펼치기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7B1EA-7450-46D0-88D0-89C0D0C2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950844-1FC7-4F14-AF55-9A8CCFC6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09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카드 클릭 상세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BB8D6-1CF0-47F8-B4FB-7F060203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38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7B159-C3B3-470B-9E77-03317C3D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71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학생 이름 클릭 추천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DD71C-7C8C-4CA2-9CB8-00B18C78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00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D04A6C-3C8D-436B-B909-5F2AD981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338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팝업 내부 스크롤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7266A7-FACA-4EA1-B8E4-85B1BCDE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C8866-A408-4F80-9893-A51F961D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95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10명 단위 페이지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0795FE-4293-446C-84C7-C6ACB1C1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3200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F979C6-E0BE-4B4F-9A39-935DEACB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2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D8266E"/>
                </a:solidFill>
                <a:latin typeface="Malgun Gothic"/>
                <a:ea typeface="Malgun Gothic"/>
                <a:cs typeface="Malgun Gothic"/>
              </a:rPr>
              <a:t>화면 안정성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F6794-35A3-4DED-9067-5C2F9445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7D83DC-68DD-49A3-B398-915E48C2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09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반응형 그리드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E6623A-ED9C-4552-9267-8B252415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38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8B8407-314E-421A-B9FC-500EDC5B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컬럼 넘침 방지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25C5F-FA99-487B-BFBF-E19EB7EF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00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E6C57B-C64B-4A70-A065-D0A485BB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338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상태 배지 줄바꿈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20605C-A5CF-4CB2-8FB0-EBCB56B7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25A49D-D3FA-496F-802E-64C7D504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교과형·몰입형 구분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F5F078-5A77-4D39-9930-6C5411AD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1970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사용성 원칙: 반복 상담 업무에서는 화려함보다 빠른 탐색, 안정적인 정렬, 근거 정보의 연결이 중요합니다.</a:t>
            </a:r>
          </a:p>
        </p:txBody>
      </p:sp>
    </p:spTree>
    <p:extLst>
      <p:ext uri="{BB962C8B-B14F-4D97-AF65-F5344CB8AC3E}">
        <p14:creationId xmlns:p14="http://schemas.microsoft.com/office/powerpoint/2010/main" val="19137476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9D65E4-DA00-4F89-8196-CA8AE270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73A2A-467F-47DC-8CF1-BC13927D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B38A3-FD38-4BA8-8C84-A35CE924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부산대학교 부트캠프 훈련생 관리 웹앱 개발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354DB-6573-4776-AB23-D93DCC19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F59CE-9FBF-4048-B01C-9ED7F55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30FCA-AF72-42C4-BF02-D6C5424D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3D01E-9D58-4836-A630-6EBC09F9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프로토타입을 실제 운영 시스템으로 확장하는 단계별 계획입니다.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99C38-72AB-48DA-9C1A-53608BD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B4DA7-6367-4C92-B06B-FCC4F451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1단계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CF539-E723-47B0-BE07-550874C9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764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화면 프로토타입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D6403-3B33-4072-9543-62C9E6D4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05025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샘플 100명 데이터로 기능 흐름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B716E-4022-45F4-A2EF-395406C2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574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CC638-1D84-49FE-AC77-039595D5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DE7EF-5C4E-423F-B464-BC629290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2단계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952BF-01DD-4EDE-A3B4-0BD572B0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622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데이터 정교화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4D870-C3B3-4BCE-9504-EEC5D617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90825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실제 교과목·트랙·PBL 기준 확정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54A52-1B5C-4950-8BA7-FE7DAEF0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432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51383-E7EE-4E01-BEBB-C8C08443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E9E3F-7D43-4285-8F2C-13961F5F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3단계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ADE6D-AB30-4DA5-8906-194EAA96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480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관리자 기능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23949-EC1E-43FC-92D5-9A727887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검색, 필터, CSV, 상담 상태 관리 고도화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B0FE8-BC12-4366-8A8F-B0950E76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290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D1928-0BC9-4282-9934-7EE6AEBE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425DF-A557-46B2-8B82-3FF466E9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4단계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72009-A32F-4DE5-BD3C-9AF27693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338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추천 고도화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B871F-EE4F-4108-8791-700B1E2F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62425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학년·전공·이수·관심 기반 추천 로직 개선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68F20E-7B23-4E11-93F2-08B4DBCC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148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4EC41E-112C-427D-B440-FF92FB3A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A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9EC6FE-8A25-4C2B-8690-EDB91992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5단계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C72BC0-2470-49B6-BF5B-0371E819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196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운영 배포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483990-86BA-436C-BFE0-BAE5E03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48225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37083"/>
                </a:solidFill>
                <a:latin typeface="Malgun Gothic"/>
                <a:ea typeface="Malgun Gothic"/>
                <a:cs typeface="Malgun Gothic"/>
              </a:rPr>
              <a:t>DB, 인증, 권한, 음성상담 요약 연동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32302F-B932-4F99-BF70-A142CE1D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5740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27215C-910A-4551-A22C-69FD414C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431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B3A75"/>
                </a:solidFill>
                <a:latin typeface="Malgun Gothic"/>
                <a:ea typeface="Malgun Gothic"/>
                <a:cs typeface="Malgun Gothic"/>
              </a:rPr>
              <a:t>기대 효과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C96D99-3D8E-4172-BECE-47C477F7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6ADD7B-DC34-46D2-AE2B-A1E5E7D1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956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상담 준비 시간 단축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EEC73C-085B-4048-B82D-023A9719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24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3DAB67-514B-48E8-B846-5A9A947B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575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학생별 다음 과정 명확화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76F52E-F17E-4C84-ABEB-469FEED6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3E6DCB-29F0-4E4E-833B-83D5227D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트랙 편중 조기 파악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14C2E4-3933-464F-A3A4-843C29D9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4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ABFCB5-70B7-418C-8263-7D28D769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814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상담·이수 데이터 축적</a:t>
            </a:r>
          </a:p>
        </p:txBody>
      </p:sp>
    </p:spTree>
    <p:extLst>
      <p:ext uri="{BB962C8B-B14F-4D97-AF65-F5344CB8AC3E}">
        <p14:creationId xmlns:p14="http://schemas.microsoft.com/office/powerpoint/2010/main" val="1389432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2026-06-14T10:38:39.6600000Z</dcterms:created>
  <dcterms:modified xsi:type="dcterms:W3CDTF">2026-06-14T10:38:39.6600000Z</dcterms:modified>
</coreProperties>
</file>